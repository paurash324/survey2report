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6F9F"/>
                </a:solidFill>
                <a:latin typeface="Calibri"/>
              </a:defRPr>
            </a:pPr>
            <a:r>
              <a:t>SURVEY2REPORT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A37"/>
                </a:solidFill>
                <a:latin typeface="Calibri"/>
              </a:defRPr>
            </a:pPr>
            <a:r>
              <a:t>Employee Engagement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4E5A"/>
                </a:solidFill>
                <a:latin typeface="Calibri"/>
              </a:defRPr>
            </a:pPr>
            <a:r>
              <a:t>Automated findings from 180 cleaned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7 analysed columns  ·  generated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WHAT THE DATA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0">
                <a:solidFill>
                  <a:srgbClr val="444E5A"/>
                </a:solidFill>
                <a:latin typeface="Calibri"/>
              </a:defRPr>
            </a:pPr>
            <a:r>
              <a:t>•  180 responses across 7 analysed columns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Most common would_recommend: Yes (35% of responses)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Strongest relationship: engagement_score ↔ manager_support (r = +0.88, strong positive)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tenure_yrs by department: Support (6.4) vs Marketing (4.3)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Highest engagement_score by role: Individual Contributor (3.5) vs Team Lead (3.0)</a:t>
            </a:r>
          </a:p>
          <a:p>
            <a:pPr>
              <a:spcAft>
                <a:spcPts val="1400"/>
              </a:spcAft>
              <a:defRPr sz="1600">
                <a:solidFill>
                  <a:srgbClr val="444E5A"/>
                </a:solidFill>
                <a:latin typeface="Calibri"/>
              </a:defRPr>
            </a:pPr>
            <a:r>
              <a:t>•  7 duplicate rows were removed during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Distribution of tenure_yrs</a:t>
            </a:r>
          </a:p>
        </p:txBody>
      </p:sp>
      <p:pic>
        <p:nvPicPr>
          <p:cNvPr id="4" name="Picture 3" descr="01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82" y="1554480"/>
            <a:ext cx="6495731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173 answers, median 6.0 and mean 5.8; the axis is clipped to the 1st-99th percentile so outliers cannot squash the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department mix</a:t>
            </a:r>
          </a:p>
        </p:txBody>
      </p:sp>
      <p:pic>
        <p:nvPicPr>
          <p:cNvPr id="4" name="Picture 3" descr="02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88" y="1554480"/>
            <a:ext cx="675711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5 levels over 180 answers; Support is the largest group at 24%.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tenure_yrs by department</a:t>
            </a:r>
          </a:p>
        </p:txBody>
      </p:sp>
      <p:pic>
        <p:nvPicPr>
          <p:cNvPr id="4" name="Picture 3" descr="03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097" y="1554480"/>
            <a:ext cx="621550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Support averages 6.4 against Marketing at 4.3, a 37%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engagement_score vs manager_support</a:t>
            </a:r>
          </a:p>
        </p:txBody>
      </p:sp>
      <p:pic>
        <p:nvPicPr>
          <p:cNvPr id="4" name="Picture 3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31" y="1554480"/>
            <a:ext cx="642343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r = +0.88, a strong positive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survey_date over time</a:t>
            </a:r>
          </a:p>
        </p:txBody>
      </p:sp>
      <p:pic>
        <p:nvPicPr>
          <p:cNvPr id="4" name="Picture 3" descr="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03" y="1554480"/>
            <a:ext cx="617488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8A5"/>
                </a:solidFill>
                <a:latin typeface="Calibri"/>
              </a:defRPr>
            </a:pPr>
            <a:r>
              <a:t>180 dated responses from 2024-01-04 to 2024-12-05 (336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HOW THIS WAS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444E5A"/>
                </a:solidFill>
                <a:latin typeface="Calibri"/>
              </a:defRPr>
            </a:pPr>
            <a:r>
              <a:t>•  Each file is read as raw text; every column is typed as numeric, date, categorical or free text.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Answers are repaired in place; each change is recorded with a count in cleaning_log.md.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187 raw rows became 180 analysis-ready rows (7 dropped)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9.8% of cells arrived missing; 9.6% remain after cleaning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7 exact duplicate rows were removed</a:t>
            </a:r>
          </a:p>
          <a:p>
            <a:pPr>
              <a:spcAft>
                <a:spcPts val="1400"/>
              </a:spcAft>
              <a:defRPr sz="1400">
                <a:solidFill>
                  <a:srgbClr val="444E5A"/>
                </a:solidFill>
                <a:latin typeface="Calibri"/>
              </a:defRPr>
            </a:pPr>
            <a:r>
              <a:t>•  Charts and figures come from the cleaned table: 3 numeric, 3 categorical and 1 date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metric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1558790"/>
                <a:gridCol w="1558790"/>
                <a:gridCol w="1558790"/>
                <a:gridCol w="1558790"/>
                <a:gridCol w="1558790"/>
                <a:gridCol w="1558795"/>
              </a:tblGrid>
              <a:tr h="91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tenure_yrs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12.00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engagement_score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manager_support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MOST COMMON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category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91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Most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Also common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Marketing (36), Finance (35), Sales (33)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Team Lead (45), Director (44), Individual Contributor (41)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would_recommend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Maybe (60), No (57)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6F9F"/>
                </a:solidFill>
                <a:latin typeface="Calibri"/>
              </a:defRPr>
            </a:pPr>
            <a:r>
              <a:t>SHOWING 10 OF 19 RECORDED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37"/>
                </a:solidFill>
                <a:latin typeface="Calibri"/>
              </a:defRPr>
            </a:pPr>
            <a:r>
              <a:t>Appendix: cleaning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2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Issue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whole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inconsistent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renamed to snake_case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tenure_yrs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tenure_yrs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engagement_score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engagement_score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manager_support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manager_support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sentinel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treated as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would_recommend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whitespace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stripped surrounding whitespace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E5A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8A5"/>
                </a:solidFill>
                <a:latin typeface="Calibri"/>
              </a:defRPr>
            </a:pPr>
            <a:r>
              <a:t>employee_engagement_2024.csv  ·  survey2report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8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