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6F9F"/>
                </a:solidFill>
                <a:latin typeface="Calibri"/>
              </a:defRPr>
            </a:pPr>
            <a:r>
              <a:t>SURVEY2REPORT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A37"/>
                </a:solidFill>
                <a:latin typeface="Calibri"/>
              </a:defRPr>
            </a:pPr>
            <a:r>
              <a:t>Event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4E5A"/>
                </a:solidFill>
                <a:latin typeface="Calibri"/>
              </a:defRPr>
            </a:pPr>
            <a:r>
              <a:t>Automated findings from 160 cleaned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6 analysed columns  ·  generated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0">
                <a:solidFill>
                  <a:srgbClr val="444E5A"/>
                </a:solidFill>
                <a:latin typeface="Calibri"/>
              </a:defRPr>
            </a:pPr>
            <a:r>
              <a:t>•  160 responses across 6 analysed columns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Most common city: Lisbon (31% of responses)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Strongest relationship: session_rating ↔ speaker_rating (r = +0.83, strong positive)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session_length_mins by would_attend_again: No (60.5) vs Definitely (47.5)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session_rating by city: Austin (3.5) vs Toronto (2.7)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5 duplicate rows were removed during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Distribution of session_rating</a:t>
            </a:r>
          </a:p>
        </p:txBody>
      </p:sp>
      <p:pic>
        <p:nvPicPr>
          <p:cNvPr id="4" name="Picture 3" descr="01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596" y="1554480"/>
            <a:ext cx="638450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140 answers, median 3.0 and mean 3.2; the axis is clipped to the 1st-99th percentile so outliers cannot squash the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would_attend_again mix</a:t>
            </a:r>
          </a:p>
        </p:txBody>
      </p:sp>
      <p:pic>
        <p:nvPicPr>
          <p:cNvPr id="4" name="Picture 3" descr="02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043" y="1554480"/>
            <a:ext cx="680160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4 levels over 160 answers; Probably not is the largest group at 28%.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session_length_mins by would_attend_again</a:t>
            </a:r>
          </a:p>
        </p:txBody>
      </p:sp>
      <p:pic>
        <p:nvPicPr>
          <p:cNvPr id="4" name="Picture 3" descr="03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233" y="1554480"/>
            <a:ext cx="6269228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No averages 60.5 against Definitely at 47.5, a 24%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session_rating vs speaker_rating</a:t>
            </a:r>
          </a:p>
        </p:txBody>
      </p:sp>
      <p:pic>
        <p:nvPicPr>
          <p:cNvPr id="4" name="Picture 3" descr="0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31" y="1554480"/>
            <a:ext cx="642343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r = +0.83, a strong positive relationship.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feedback_date over time</a:t>
            </a:r>
          </a:p>
        </p:txBody>
      </p:sp>
      <p:pic>
        <p:nvPicPr>
          <p:cNvPr id="4" name="Picture 3" descr="0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03" y="1554480"/>
            <a:ext cx="617488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160 dated responses from 2024-01-09 to 2024-11-06 (302 days).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HOW THIS WAS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Methodology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444E5A"/>
                </a:solidFill>
                <a:latin typeface="Calibri"/>
              </a:defRPr>
            </a:pPr>
            <a:r>
              <a:t>•  Each file is read as raw text; every column is typed as numeric, date, categorical or free text.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Answers are repaired in place; each change is recorded with a count in cleaning_log.md.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166 raw rows became 160 analysis-ready rows (6 dropped)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13.4% of cells arrived missing; 12.8% remain after cleaning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5 exact duplicate rows were removed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Charts and figures come from the cleaned table: 3 numeric, 2 categorical and 1 date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SUMMARY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metric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0"/>
                <a:gridCol w="1558790"/>
                <a:gridCol w="1558790"/>
                <a:gridCol w="1558790"/>
                <a:gridCol w="1558790"/>
                <a:gridCol w="1558790"/>
                <a:gridCol w="1558795"/>
              </a:tblGrid>
              <a:tr h="91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session_rating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speaker_rating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session_length_mins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90.00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MOST COMMON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category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121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Most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Also common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would_attend_again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Probably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Definitely (43), Yes (39), No (34)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Lisbon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Berlin (31), Bangalore (28), Toronto (27)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SHOWING 10 OF 23 RECORDED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cleaning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32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Issue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whole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inconsistent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renamed to snake_case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reg_id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attendee_name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session_rating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session_rating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speaker_rating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speaker_rating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would_attend_again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would_attend_again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session_length_mins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event_feedback.csv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