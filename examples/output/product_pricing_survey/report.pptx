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6F9F"/>
                </a:solidFill>
                <a:latin typeface="Calibri"/>
              </a:defRPr>
            </a:pPr>
            <a:r>
              <a:t>SURVEY2REPORT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2A37"/>
                </a:solidFill>
                <a:latin typeface="Calibri"/>
              </a:defRPr>
            </a:pPr>
            <a:r>
              <a:t>Product Pricing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44E5A"/>
                </a:solidFill>
                <a:latin typeface="Calibri"/>
              </a:defRPr>
            </a:pPr>
            <a:r>
              <a:t>Automated findings from 170 cleaned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7 analysed columns  ·  generated 15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WHAT THE DATA 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600" b="0">
                <a:solidFill>
                  <a:srgbClr val="444E5A"/>
                </a:solidFill>
                <a:latin typeface="Calibri"/>
              </a:defRPr>
            </a:pPr>
            <a:r>
              <a:t>•  170 responses across 7 analysed columns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Most common segment: Enterprise (26% of responses)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Strongest relationship: willingness_to_pay ↔ price_shown (r = +0.96, strong positive)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Highest willingness_to_pay by segment: Enterprise (254.0) vs Startup (34.8)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Highest price_shown by segment: Enterprise (242.0) vs Startup (45.7)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7 duplicate rows were removed during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product_pricing_survey.csv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Distribution of willingness_to_pay</a:t>
            </a:r>
          </a:p>
        </p:txBody>
      </p:sp>
      <p:pic>
        <p:nvPicPr>
          <p:cNvPr id="4" name="Picture 3" descr="01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666" y="1554480"/>
            <a:ext cx="6462363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144 answers, median 129.0 and mean 132.7; the axis is clipped to the 1st-99th percentile so outliers cannot squash the shape.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product_pricing_survey.csv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segment mix</a:t>
            </a:r>
          </a:p>
        </p:txBody>
      </p:sp>
      <p:pic>
        <p:nvPicPr>
          <p:cNvPr id="4" name="Picture 3" descr="02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753" y="1554480"/>
            <a:ext cx="6718189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4 levels over 170 answers; Enterprise is the largest group at 26%.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product_pricing_survey.csv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willingness_to_pay by segment</a:t>
            </a:r>
          </a:p>
        </p:txBody>
      </p:sp>
      <p:pic>
        <p:nvPicPr>
          <p:cNvPr id="4" name="Picture 3" descr="03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568" y="1554480"/>
            <a:ext cx="6384558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Enterprise averages 254.0 against Startup at 34.8, a 165%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product_pricing_survey.csv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willingness_to_pay vs price_shown</a:t>
            </a:r>
          </a:p>
        </p:txBody>
      </p:sp>
      <p:pic>
        <p:nvPicPr>
          <p:cNvPr id="4" name="Picture 3" descr="04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517" y="1554480"/>
            <a:ext cx="6534661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r = +0.96, a strong positive relationship.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product_pricing_survey.csv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interview_date over time</a:t>
            </a:r>
          </a:p>
        </p:txBody>
      </p:sp>
      <p:pic>
        <p:nvPicPr>
          <p:cNvPr id="4" name="Picture 3" descr="0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403" y="1554480"/>
            <a:ext cx="6174889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170 dated responses from 2024-01-02 to 2024-12-02 (335 days).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product_pricing_survey.csv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HOW THIS WAS PRODUCED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Methodology &amp;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400" b="0">
                <a:solidFill>
                  <a:srgbClr val="444E5A"/>
                </a:solidFill>
                <a:latin typeface="Calibri"/>
              </a:defRPr>
            </a:pPr>
            <a:r>
              <a:t>•  Each file is read as raw text; every column is typed as numeric, date, categorical or free text.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Answers are repaired in place; each change is recorded with a count in cleaning_log.md.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177 raw rows became 170 analysis-ready rows (7 dropped)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12.1% of cells arrived missing; 12.2% remain after cleaning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7 exact duplicate rows were removed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Charts and figures come from the cleaned table: 3 numeric, 3 categorical and 1 date columns.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product_pricing_survey.csv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SUMMARY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Appendix: metric detail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790"/>
                <a:gridCol w="1558790"/>
                <a:gridCol w="1558790"/>
                <a:gridCol w="1558790"/>
                <a:gridCol w="1558790"/>
                <a:gridCol w="1558790"/>
                <a:gridCol w="1558795"/>
              </a:tblGrid>
              <a:tr h="914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willingness_to_pay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132.72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129.00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288.00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price_shown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132.66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119.00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318.00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discount_pct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13.40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25.00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product_pricing_survey.csv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MOST COMMON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Appendix: category detail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914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Most common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Also common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Mid-Market (44), Startup (41), SMB (40)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Likely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Very unlikely (38), Unlikely (37), Very likely (31)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decision_maker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Yes - VP (47), No (39), Yes (35)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product_pricing_survey.csv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SHOWING 10 OF 21 RECORDED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Appendix: cleaning log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6"/>
              </a:tblGrid>
              <a:tr h="332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Issue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Action taken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Cells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whole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inconsistent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renamed to snake_case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willingness_to_pay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willingness_to_pay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sentinel missing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treated as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price_shown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price_shown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sentinel missing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treated as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discount_pct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discount_pct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sentinel missing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treated as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</a:tr>
              <a:tr h="332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decision_maker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product_pricing_survey.csv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