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6F9F"/>
                </a:solidFill>
                <a:latin typeface="Calibri"/>
              </a:defRPr>
            </a:pPr>
            <a:r>
              <a:t>SURVEY2REPORT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A37"/>
                </a:solidFill>
                <a:latin typeface="Calibri"/>
              </a:defRPr>
            </a:pPr>
            <a:r>
              <a:t>Customer Satisfaction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4E5A"/>
                </a:solidFill>
                <a:latin typeface="Calibri"/>
              </a:defRPr>
            </a:pPr>
            <a:r>
              <a:t>Automated findings from 200 cleaned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7 analysed columns  ·  generated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0">
                <a:solidFill>
                  <a:srgbClr val="444E5A"/>
                </a:solidFill>
                <a:latin typeface="Calibri"/>
              </a:defRPr>
            </a:pPr>
            <a:r>
              <a:t>•  200 responses across 7 analysed columns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Most common churn_risk: high (35% of responses)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Strongest relationship: nps_score ↔ satisfaction_1_5 (r = +0.91, strong positive)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annual_spend by churn_risk: low (3131.8) vs medium (1284.0)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support_tickets by plan: Pro (3.0) vs Enterprise (1.6)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25 extreme values in annual_spend worth verifying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Distribution of nps_score</a:t>
            </a:r>
          </a:p>
        </p:txBody>
      </p:sp>
      <p:pic>
        <p:nvPicPr>
          <p:cNvPr id="4" name="Picture 3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96" y="1554480"/>
            <a:ext cx="638450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173 answers, median 9.0 and mean 7.9; the axis is clipped to the 1st-99th percentile so outliers cannot squash the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plan mix</a:t>
            </a:r>
          </a:p>
        </p:txBody>
      </p:sp>
      <p:pic>
        <p:nvPicPr>
          <p:cNvPr id="4" name="Picture 3" descr="0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60" y="1554480"/>
            <a:ext cx="6662574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4 levels over 200 answers; Enterprise is the largest group at 30%.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annual_spend by churn_risk</a:t>
            </a:r>
          </a:p>
        </p:txBody>
      </p:sp>
      <p:pic>
        <p:nvPicPr>
          <p:cNvPr id="4" name="Picture 3" descr="03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591" y="1554480"/>
            <a:ext cx="6828512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low averages 3131.8 against medium at 1284.0, a 89%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nps_score vs satisfaction_1_5</a:t>
            </a:r>
          </a:p>
        </p:txBody>
      </p:sp>
      <p:pic>
        <p:nvPicPr>
          <p:cNvPr id="4" name="Picture 3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45" y="1554480"/>
            <a:ext cx="631220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r = +0.91, a strong positive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response_date over time</a:t>
            </a:r>
          </a:p>
        </p:txBody>
      </p:sp>
      <p:pic>
        <p:nvPicPr>
          <p:cNvPr id="4" name="Picture 3" descr="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03" y="1554480"/>
            <a:ext cx="61748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200 dated responses from 2024-01-04 to 2024-12-03 (334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HOW THIS WAS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444E5A"/>
                </a:solidFill>
                <a:latin typeface="Calibri"/>
              </a:defRPr>
            </a:pPr>
            <a:r>
              <a:t>•  Each file is read as raw text; every column is typed as numeric, date, categorical or free text.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Answers are repaired in place; each change is recorded with a count in cleaning_log.md.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208 raw rows became 200 analysis-ready rows (8 dropped)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11.8% of cells arrived missing; 12.0% remain after cleaning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8 exact duplicate rows were removed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Charts and figures come from the cleaned table: 4 numeric, 2 categorical and 1 date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metric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1558790"/>
                <a:gridCol w="1558790"/>
                <a:gridCol w="1558790"/>
                <a:gridCol w="1558790"/>
                <a:gridCol w="1558790"/>
                <a:gridCol w="1558795"/>
              </a:tblGrid>
              <a:tr h="731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nps_score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satisfaction_1_5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support_tickets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8.00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annual_spend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2,079.90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12,500.00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MOST COMMON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category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121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Most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Also common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Team (53), Free (46), Pro (42)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churn_risk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medium (68), low (62)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SHOWING 10 OF 22 RECORDED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cleaning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2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Issue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whole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inconsistent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renamed to snake_case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customer_name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customer_name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nps_score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nps_score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satisfaction_1_5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satisfaction_1_5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support_tickets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support_tickets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customer_satisfaction_q1.csv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